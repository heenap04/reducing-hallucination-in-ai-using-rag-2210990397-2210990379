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4"/>
  </p:sldMasterIdLst>
  <p:notesMasterIdLst>
    <p:notesMasterId r:id="rId16"/>
  </p:notesMasterIdLst>
  <p:handoutMasterIdLst>
    <p:handoutMasterId r:id="rId17"/>
  </p:handoutMasterIdLst>
  <p:sldIdLst>
    <p:sldId id="256" r:id="rId5"/>
    <p:sldId id="257" r:id="rId6"/>
    <p:sldId id="269" r:id="rId7"/>
    <p:sldId id="270" r:id="rId8"/>
    <p:sldId id="271" r:id="rId9"/>
    <p:sldId id="272" r:id="rId10"/>
    <p:sldId id="273" r:id="rId11"/>
    <p:sldId id="274" r:id="rId12"/>
    <p:sldId id="275" r:id="rId13"/>
    <p:sldId id="276" r:id="rId14"/>
    <p:sldId id="268" r:id="rId15"/>
  </p:sldIdLst>
  <p:sldSz cx="9144000" cy="6858000" type="screen4x3"/>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B2E2"/>
    <a:srgbClr val="2A66AC"/>
    <a:srgbClr val="75A4DD"/>
    <a:srgbClr val="2E6CB8"/>
    <a:srgbClr val="2A65AC"/>
    <a:srgbClr val="255997"/>
    <a:srgbClr val="3379CD"/>
    <a:srgbClr val="558ED5"/>
    <a:srgbClr val="78A6DE"/>
    <a:srgbClr val="9DBE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7" d="100"/>
          <a:sy n="77" d="100"/>
        </p:scale>
        <p:origin x="1618" y="8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F607C9A-EDB5-4C0A-BCFE-81AAF6133E68}"/>
              </a:ext>
            </a:extLst>
          </p:cNvPr>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4F00B0C-2831-4624-A5D3-43F42D30BA74}"/>
              </a:ext>
            </a:extLst>
          </p:cNvPr>
          <p:cNvSpPr>
            <a:spLocks noGrp="1"/>
          </p:cNvSpPr>
          <p:nvPr>
            <p:ph type="dt" sz="quarter" idx="1"/>
          </p:nvPr>
        </p:nvSpPr>
        <p:spPr>
          <a:xfrm>
            <a:off x="4281488" y="0"/>
            <a:ext cx="3276600" cy="536575"/>
          </a:xfrm>
          <a:prstGeom prst="rect">
            <a:avLst/>
          </a:prstGeom>
        </p:spPr>
        <p:txBody>
          <a:bodyPr vert="horz" lIns="91440" tIns="45720" rIns="91440" bIns="45720" rtlCol="0"/>
          <a:lstStyle>
            <a:lvl1pPr algn="r">
              <a:defRPr sz="1200"/>
            </a:lvl1pPr>
          </a:lstStyle>
          <a:p>
            <a:fld id="{25D2B5EB-424D-4C39-A8AB-65F1D7895EF3}" type="datetimeFigureOut">
              <a:rPr lang="en-US" smtClean="0"/>
              <a:pPr/>
              <a:t>4/29/2026</a:t>
            </a:fld>
            <a:endParaRPr lang="en-US"/>
          </a:p>
        </p:txBody>
      </p:sp>
      <p:sp>
        <p:nvSpPr>
          <p:cNvPr id="4" name="Footer Placeholder 3">
            <a:extLst>
              <a:ext uri="{FF2B5EF4-FFF2-40B4-BE49-F238E27FC236}">
                <a16:creationId xmlns:a16="http://schemas.microsoft.com/office/drawing/2014/main" id="{B334ABA9-0C2F-480A-B554-A457296C39B5}"/>
              </a:ext>
            </a:extLst>
          </p:cNvPr>
          <p:cNvSpPr>
            <a:spLocks noGrp="1"/>
          </p:cNvSpPr>
          <p:nvPr>
            <p:ph type="ftr" sz="quarter" idx="2"/>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5" name="Slide Number Placeholder 4">
            <a:extLst>
              <a:ext uri="{FF2B5EF4-FFF2-40B4-BE49-F238E27FC236}">
                <a16:creationId xmlns:a16="http://schemas.microsoft.com/office/drawing/2014/main" id="{46F3BA01-5457-4975-8BF5-D0EAD49D534B}"/>
              </a:ext>
            </a:extLst>
          </p:cNvPr>
          <p:cNvSpPr>
            <a:spLocks noGrp="1"/>
          </p:cNvSpPr>
          <p:nvPr>
            <p:ph type="sldNum" sz="quarter" idx="3"/>
          </p:nvPr>
        </p:nvSpPr>
        <p:spPr>
          <a:xfrm>
            <a:off x="4281488" y="10155238"/>
            <a:ext cx="3276600" cy="536575"/>
          </a:xfrm>
          <a:prstGeom prst="rect">
            <a:avLst/>
          </a:prstGeom>
        </p:spPr>
        <p:txBody>
          <a:bodyPr vert="horz" lIns="91440" tIns="45720" rIns="91440" bIns="45720" rtlCol="0" anchor="b"/>
          <a:lstStyle>
            <a:lvl1pPr algn="r">
              <a:defRPr sz="1200"/>
            </a:lvl1pPr>
          </a:lstStyle>
          <a:p>
            <a:fld id="{E4199376-55CE-4213-A97D-9D70929AC508}" type="slidenum">
              <a:rPr lang="en-US" smtClean="0"/>
              <a:pPr/>
              <a:t>‹#›</a:t>
            </a:fld>
            <a:endParaRPr lang="en-US"/>
          </a:p>
        </p:txBody>
      </p:sp>
    </p:spTree>
    <p:extLst>
      <p:ext uri="{BB962C8B-B14F-4D97-AF65-F5344CB8AC3E}">
        <p14:creationId xmlns:p14="http://schemas.microsoft.com/office/powerpoint/2010/main" val="4123002274"/>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888BC1CF-45D5-4DEE-AAB8-8C5341844FC9}" type="datetimeFigureOut">
              <a:rPr lang="en-US" smtClean="0"/>
              <a:pPr/>
              <a:t>4/29/2026</a:t>
            </a:fld>
            <a:endParaRPr lang="en-US"/>
          </a:p>
        </p:txBody>
      </p:sp>
      <p:sp>
        <p:nvSpPr>
          <p:cNvPr id="4" name="Slide Image Placeholder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C5A7523A-12D4-4E0F-9409-B3F845B48333}" type="slidenum">
              <a:rPr lang="en-US" smtClean="0"/>
              <a:pPr/>
              <a:t>‹#›</a:t>
            </a:fld>
            <a:endParaRPr lang="en-US"/>
          </a:p>
        </p:txBody>
      </p:sp>
    </p:spTree>
    <p:extLst>
      <p:ext uri="{BB962C8B-B14F-4D97-AF65-F5344CB8AC3E}">
        <p14:creationId xmlns:p14="http://schemas.microsoft.com/office/powerpoint/2010/main" val="3458122221"/>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5A7523A-12D4-4E0F-9409-B3F845B48333}" type="slidenum">
              <a:rPr lang="en-US" smtClean="0"/>
              <a:pPr/>
              <a:t>1</a:t>
            </a:fld>
            <a:endParaRPr lang="en-US"/>
          </a:p>
        </p:txBody>
      </p:sp>
      <p:sp>
        <p:nvSpPr>
          <p:cNvPr id="5" name="Footer Placeholder 4">
            <a:extLst>
              <a:ext uri="{FF2B5EF4-FFF2-40B4-BE49-F238E27FC236}">
                <a16:creationId xmlns:a16="http://schemas.microsoft.com/office/drawing/2014/main" id="{A599BB95-9755-4BC6-8051-C2B8CF54F2A1}"/>
              </a:ext>
            </a:extLst>
          </p:cNvPr>
          <p:cNvSpPr>
            <a:spLocks noGrp="1"/>
          </p:cNvSpPr>
          <p:nvPr>
            <p:ph type="ftr" sz="quarter" idx="4"/>
          </p:nvPr>
        </p:nvSpPr>
        <p:spPr/>
        <p:txBody>
          <a:bodyPr/>
          <a:lstStyle/>
          <a:p>
            <a:r>
              <a:rPr lang="en-US"/>
              <a:t>Name of the faculty [Group: G00] [Sem:2nd]</a:t>
            </a:r>
          </a:p>
        </p:txBody>
      </p:sp>
    </p:spTree>
    <p:extLst>
      <p:ext uri="{BB962C8B-B14F-4D97-AF65-F5344CB8AC3E}">
        <p14:creationId xmlns:p14="http://schemas.microsoft.com/office/powerpoint/2010/main" val="42548747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1" name="PlaceHolder 2"/>
          <p:cNvSpPr>
            <a:spLocks noGrp="1"/>
          </p:cNvSpPr>
          <p:nvPr>
            <p:ph type="subTitle"/>
          </p:nvPr>
        </p:nvSpPr>
        <p:spPr>
          <a:xfrm>
            <a:off x="457200" y="1604520"/>
            <a:ext cx="8229240" cy="3977280"/>
          </a:xfrm>
          <a:prstGeom prst="rect">
            <a:avLst/>
          </a:prstGeom>
        </p:spPr>
        <p:txBody>
          <a:bodyPr lIns="0" tIns="0" rIns="0" bIns="0" anchor="ctr">
            <a:noAutofit/>
          </a:bodyPr>
          <a:lstStyle/>
          <a:p>
            <a:pPr algn="ctr"/>
            <a:endParaRPr lang="en-GB" sz="3200" b="0" strike="noStrike" spc="-1" dirty="0">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3"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5"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6"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8" name="PlaceHolder 1"/>
          <p:cNvSpPr>
            <a:spLocks noGrp="1"/>
          </p:cNvSpPr>
          <p:nvPr>
            <p:ph type="subTitle"/>
          </p:nvPr>
        </p:nvSpPr>
        <p:spPr>
          <a:xfrm>
            <a:off x="0" y="0"/>
            <a:ext cx="5486040" cy="4238280"/>
          </a:xfrm>
          <a:prstGeom prst="rect">
            <a:avLst/>
          </a:prstGeom>
        </p:spPr>
        <p:txBody>
          <a:bodyPr lIns="0" tIns="0" rIns="0" bIns="0" anchor="ctr">
            <a:noAutofit/>
          </a:bodyPr>
          <a:lstStyle/>
          <a:p>
            <a:pPr algn="ctr"/>
            <a:endParaRPr lang="en-GB"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0"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1"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2"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4"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5"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6" name="PlaceHolder 4"/>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8"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9"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0" name="PlaceHolder 4"/>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41"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2" name="PlaceHolder 2"/>
          <p:cNvSpPr>
            <a:spLocks noGrp="1"/>
          </p:cNvSpPr>
          <p:nvPr>
            <p:ph type="body"/>
          </p:nvPr>
        </p:nvSpPr>
        <p:spPr>
          <a:xfrm>
            <a:off x="457200" y="160452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3" name="PlaceHolder 3"/>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5"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6"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7"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8" name="PlaceHolder 5"/>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50"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1"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2"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3"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4"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5"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CustomShape 1"/>
          <p:cNvSpPr/>
          <p:nvPr/>
        </p:nvSpPr>
        <p:spPr>
          <a:xfrm>
            <a:off x="0" y="0"/>
            <a:ext cx="914364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sp>
        <p:nvSpPr>
          <p:cNvPr id="21" name="CustomShape 2"/>
          <p:cNvSpPr/>
          <p:nvPr/>
        </p:nvSpPr>
        <p:spPr>
          <a:xfrm flipV="1">
            <a:off x="0" y="6704640"/>
            <a:ext cx="9143640" cy="197640"/>
          </a:xfrm>
          <a:prstGeom prst="rect">
            <a:avLst/>
          </a:prstGeom>
          <a:solidFill>
            <a:srgbClr val="FF0000"/>
          </a:solidFill>
          <a:ln w="9360">
            <a:noFill/>
          </a:ln>
          <a:scene3d>
            <a:camera prst="orthographicFront"/>
            <a:lightRig rig="threePt" dir="t"/>
          </a:scene3d>
          <a:sp3d/>
        </p:spPr>
        <p:style>
          <a:lnRef idx="0">
            <a:scrgbClr r="0" g="0" b="0"/>
          </a:lnRef>
          <a:fillRef idx="0">
            <a:scrgbClr r="0" g="0" b="0"/>
          </a:fillRef>
          <a:effectRef idx="0">
            <a:scrgbClr r="0" g="0" b="0"/>
          </a:effectRef>
          <a:fontRef idx="minor"/>
        </p:style>
      </p:sp>
      <p:pic>
        <p:nvPicPr>
          <p:cNvPr id="2" name="Picture 10" descr="LOGO.gif"/>
          <p:cNvPicPr/>
          <p:nvPr/>
        </p:nvPicPr>
        <p:blipFill>
          <a:blip r:embed="rId14"/>
          <a:srcRect b="10718"/>
          <a:stretch/>
        </p:blipFill>
        <p:spPr>
          <a:xfrm>
            <a:off x="6553080" y="228600"/>
            <a:ext cx="2057040" cy="634680"/>
          </a:xfrm>
          <a:prstGeom prst="rect">
            <a:avLst/>
          </a:prstGeom>
          <a:ln w="9360">
            <a:noFill/>
          </a:ln>
        </p:spPr>
      </p:pic>
      <p:pic>
        <p:nvPicPr>
          <p:cNvPr id="3" name="Picture 10" descr="LOGO.gif"/>
          <p:cNvPicPr/>
          <p:nvPr/>
        </p:nvPicPr>
        <p:blipFill>
          <a:blip r:embed="rId14"/>
          <a:srcRect b="10718"/>
          <a:stretch/>
        </p:blipFill>
        <p:spPr>
          <a:xfrm>
            <a:off x="6553080" y="228600"/>
            <a:ext cx="2057040" cy="634680"/>
          </a:xfrm>
          <a:prstGeom prst="rect">
            <a:avLst/>
          </a:prstGeom>
          <a:ln w="9360">
            <a:noFill/>
          </a:ln>
        </p:spPr>
      </p:pic>
      <p:grpSp>
        <p:nvGrpSpPr>
          <p:cNvPr id="4" name="Group 3"/>
          <p:cNvGrpSpPr/>
          <p:nvPr/>
        </p:nvGrpSpPr>
        <p:grpSpPr>
          <a:xfrm>
            <a:off x="6146640" y="0"/>
            <a:ext cx="2997000" cy="875880"/>
            <a:chOff x="6146640" y="0"/>
            <a:chExt cx="2997000" cy="875880"/>
          </a:xfrm>
        </p:grpSpPr>
        <p:sp>
          <p:nvSpPr>
            <p:cNvPr id="5" name="CustomShape 4"/>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6" name="Picture 9" descr="LOGO.gif"/>
            <p:cNvPicPr/>
            <p:nvPr/>
          </p:nvPicPr>
          <p:blipFill>
            <a:blip r:embed="rId14"/>
            <a:srcRect b="10718"/>
            <a:stretch/>
          </p:blipFill>
          <p:spPr>
            <a:xfrm>
              <a:off x="6553080" y="228600"/>
              <a:ext cx="2057040" cy="634680"/>
            </a:xfrm>
            <a:prstGeom prst="rect">
              <a:avLst/>
            </a:prstGeom>
            <a:ln w="9360">
              <a:noFill/>
            </a:ln>
          </p:spPr>
        </p:pic>
        <p:sp>
          <p:nvSpPr>
            <p:cNvPr id="7" name="CustomShape 5"/>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8" name="Picture 15" descr="logo.jpg"/>
          <p:cNvPicPr/>
          <p:nvPr/>
        </p:nvPicPr>
        <p:blipFill>
          <a:blip r:embed="rId15"/>
          <a:stretch/>
        </p:blipFill>
        <p:spPr>
          <a:xfrm>
            <a:off x="6553080" y="228600"/>
            <a:ext cx="1920600" cy="609120"/>
          </a:xfrm>
          <a:prstGeom prst="rect">
            <a:avLst/>
          </a:prstGeom>
          <a:ln w="9360">
            <a:noFill/>
          </a:ln>
        </p:spPr>
      </p:pic>
      <p:pic>
        <p:nvPicPr>
          <p:cNvPr id="9" name="Picture 10" descr="LOGO.gif"/>
          <p:cNvPicPr/>
          <p:nvPr/>
        </p:nvPicPr>
        <p:blipFill>
          <a:blip r:embed="rId14"/>
          <a:srcRect b="10718"/>
          <a:stretch/>
        </p:blipFill>
        <p:spPr>
          <a:xfrm>
            <a:off x="6553080" y="228600"/>
            <a:ext cx="2057040" cy="634680"/>
          </a:xfrm>
          <a:prstGeom prst="rect">
            <a:avLst/>
          </a:prstGeom>
          <a:ln w="9360">
            <a:noFill/>
          </a:ln>
        </p:spPr>
      </p:pic>
      <p:grpSp>
        <p:nvGrpSpPr>
          <p:cNvPr id="10" name="Group 6"/>
          <p:cNvGrpSpPr/>
          <p:nvPr/>
        </p:nvGrpSpPr>
        <p:grpSpPr>
          <a:xfrm>
            <a:off x="6146640" y="0"/>
            <a:ext cx="2997000" cy="875880"/>
            <a:chOff x="6146640" y="0"/>
            <a:chExt cx="2997000" cy="875880"/>
          </a:xfrm>
        </p:grpSpPr>
        <p:sp>
          <p:nvSpPr>
            <p:cNvPr id="11" name="CustomShape 7"/>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12" name="Picture 9" descr="LOGO.gif"/>
            <p:cNvPicPr/>
            <p:nvPr/>
          </p:nvPicPr>
          <p:blipFill>
            <a:blip r:embed="rId14"/>
            <a:srcRect b="10718"/>
            <a:stretch/>
          </p:blipFill>
          <p:spPr>
            <a:xfrm>
              <a:off x="6553080" y="228600"/>
              <a:ext cx="2057040" cy="634680"/>
            </a:xfrm>
            <a:prstGeom prst="rect">
              <a:avLst/>
            </a:prstGeom>
            <a:ln w="9360">
              <a:noFill/>
            </a:ln>
          </p:spPr>
        </p:pic>
        <p:sp>
          <p:nvSpPr>
            <p:cNvPr id="13" name="CustomShape 8"/>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14" name="Picture 15" descr="logo.jpg"/>
          <p:cNvPicPr/>
          <p:nvPr/>
        </p:nvPicPr>
        <p:blipFill>
          <a:blip r:embed="rId15"/>
          <a:stretch/>
        </p:blipFill>
        <p:spPr>
          <a:xfrm>
            <a:off x="6553080" y="228600"/>
            <a:ext cx="1920600" cy="609120"/>
          </a:xfrm>
          <a:prstGeom prst="rect">
            <a:avLst/>
          </a:prstGeom>
          <a:ln w="9360">
            <a:noFill/>
          </a:ln>
        </p:spPr>
      </p:pic>
      <p:sp>
        <p:nvSpPr>
          <p:cNvPr id="15" name="PlaceHolder 9"/>
          <p:cNvSpPr>
            <a:spLocks noGrp="1"/>
          </p:cNvSpPr>
          <p:nvPr>
            <p:ph type="title"/>
          </p:nvPr>
        </p:nvSpPr>
        <p:spPr>
          <a:xfrm>
            <a:off x="0" y="0"/>
            <a:ext cx="6476760" cy="837720"/>
          </a:xfrm>
          <a:prstGeom prst="rect">
            <a:avLst/>
          </a:prstGeom>
        </p:spPr>
        <p:txBody>
          <a:bodyPr anchor="ctr">
            <a:noAutofit/>
          </a:bodyPr>
          <a:lstStyle/>
          <a:p>
            <a:pPr algn="ctr">
              <a:lnSpc>
                <a:spcPct val="100000"/>
              </a:lnSpc>
            </a:pPr>
            <a:r>
              <a:rPr lang="en-US" sz="3000" b="0" strike="noStrike" spc="-1" dirty="0">
                <a:solidFill>
                  <a:srgbClr val="000000"/>
                </a:solidFill>
                <a:latin typeface="Calibri"/>
                <a:ea typeface="MS PGothic"/>
              </a:rPr>
              <a:t>Click to edit Master title style</a:t>
            </a:r>
            <a:endParaRPr lang="en-US" sz="3000" b="0" strike="noStrike" spc="-1" dirty="0">
              <a:solidFill>
                <a:srgbClr val="000000"/>
              </a:solidFill>
              <a:latin typeface="Arial"/>
            </a:endParaRPr>
          </a:p>
        </p:txBody>
      </p:sp>
      <p:sp>
        <p:nvSpPr>
          <p:cNvPr id="16" name="PlaceHolder 10"/>
          <p:cNvSpPr>
            <a:spLocks noGrp="1"/>
          </p:cNvSpPr>
          <p:nvPr>
            <p:ph type="body"/>
          </p:nvPr>
        </p:nvSpPr>
        <p:spPr>
          <a:xfrm>
            <a:off x="457200" y="1371600"/>
            <a:ext cx="8229240" cy="4525560"/>
          </a:xfrm>
          <a:prstGeom prst="rect">
            <a:avLst/>
          </a:prstGeom>
        </p:spPr>
        <p:txBody>
          <a:bodyPr>
            <a:noAutofit/>
          </a:bodyPr>
          <a:lstStyle/>
          <a:p>
            <a:pPr marL="343080" indent="-342720">
              <a:lnSpc>
                <a:spcPct val="100000"/>
              </a:lnSpc>
              <a:spcBef>
                <a:spcPts val="641"/>
              </a:spcBef>
              <a:buClr>
                <a:srgbClr val="000000"/>
              </a:buClr>
              <a:buFont typeface="Arial"/>
              <a:buChar char="•"/>
            </a:pPr>
            <a:r>
              <a:rPr lang="en-US" sz="3200" b="0" strike="noStrike" spc="-1" dirty="0">
                <a:solidFill>
                  <a:srgbClr val="000000"/>
                </a:solidFill>
                <a:latin typeface="Calibri"/>
                <a:ea typeface="MS PGothic"/>
              </a:rPr>
              <a:t>Click to edit Master text styles</a:t>
            </a:r>
            <a:endParaRPr lang="en-US" sz="3200" b="0" strike="noStrike" spc="-1" dirty="0">
              <a:solidFill>
                <a:srgbClr val="000000"/>
              </a:solidFill>
              <a:latin typeface="Calibri"/>
            </a:endParaRPr>
          </a:p>
          <a:p>
            <a:pPr marL="743040" lvl="1" indent="-285480">
              <a:lnSpc>
                <a:spcPct val="100000"/>
              </a:lnSpc>
              <a:spcBef>
                <a:spcPts val="561"/>
              </a:spcBef>
              <a:buClr>
                <a:srgbClr val="000000"/>
              </a:buClr>
              <a:buFont typeface="Arial"/>
              <a:buChar char="–"/>
            </a:pPr>
            <a:r>
              <a:rPr lang="en-US" sz="2800" b="0" strike="noStrike" spc="-1" dirty="0">
                <a:solidFill>
                  <a:srgbClr val="000000"/>
                </a:solidFill>
                <a:latin typeface="Calibri"/>
                <a:ea typeface="MS PGothic"/>
              </a:rPr>
              <a:t>Second level</a:t>
            </a:r>
            <a:endParaRPr lang="en-US" sz="2800" b="0" strike="noStrike" spc="-1" dirty="0">
              <a:solidFill>
                <a:srgbClr val="000000"/>
              </a:solidFill>
              <a:latin typeface="Calibri"/>
            </a:endParaRPr>
          </a:p>
          <a:p>
            <a:pPr marL="1143000" lvl="2" indent="-228240">
              <a:lnSpc>
                <a:spcPct val="100000"/>
              </a:lnSpc>
              <a:spcBef>
                <a:spcPts val="479"/>
              </a:spcBef>
              <a:buClr>
                <a:srgbClr val="000000"/>
              </a:buClr>
              <a:buFont typeface="Arial"/>
              <a:buChar char="•"/>
            </a:pPr>
            <a:r>
              <a:rPr lang="en-US" sz="2400" b="0" strike="noStrike" spc="-1" dirty="0">
                <a:solidFill>
                  <a:srgbClr val="000000"/>
                </a:solidFill>
                <a:latin typeface="Calibri"/>
                <a:ea typeface="MS PGothic"/>
              </a:rPr>
              <a:t>Third level</a:t>
            </a:r>
            <a:endParaRPr lang="en-US" sz="2400" b="0" strike="noStrike" spc="-1" dirty="0">
              <a:solidFill>
                <a:srgbClr val="000000"/>
              </a:solidFill>
              <a:latin typeface="Calibri"/>
            </a:endParaRPr>
          </a:p>
          <a:p>
            <a:pPr marL="1600200" lvl="3"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Fourth level</a:t>
            </a:r>
            <a:endParaRPr lang="en-US" sz="2000" b="0" strike="noStrike" spc="-1" dirty="0">
              <a:solidFill>
                <a:srgbClr val="000000"/>
              </a:solidFill>
              <a:latin typeface="Calibri"/>
            </a:endParaRPr>
          </a:p>
          <a:p>
            <a:pPr marL="2057400" lvl="4"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Fifth level</a:t>
            </a:r>
            <a:endParaRPr lang="en-US" sz="2000" b="0" strike="noStrike" spc="-1" dirty="0">
              <a:solidFill>
                <a:srgbClr val="000000"/>
              </a:solidFill>
              <a:latin typeface="Calibri"/>
            </a:endParaRPr>
          </a:p>
        </p:txBody>
      </p:sp>
      <p:sp>
        <p:nvSpPr>
          <p:cNvPr id="17" name="PlaceHolder 11"/>
          <p:cNvSpPr>
            <a:spLocks noGrp="1"/>
          </p:cNvSpPr>
          <p:nvPr>
            <p:ph type="dt"/>
          </p:nvPr>
        </p:nvSpPr>
        <p:spPr>
          <a:xfrm>
            <a:off x="457200" y="6356520"/>
            <a:ext cx="2133360" cy="364680"/>
          </a:xfrm>
          <a:prstGeom prst="rect">
            <a:avLst/>
          </a:prstGeom>
        </p:spPr>
        <p:txBody>
          <a:bodyPr anchor="ctr">
            <a:noAutofit/>
          </a:bodyPr>
          <a:lstStyle/>
          <a:p>
            <a:pPr>
              <a:lnSpc>
                <a:spcPct val="100000"/>
              </a:lnSpc>
            </a:pPr>
            <a:endParaRPr lang="en-GB" sz="1200" b="0" strike="noStrike" spc="-1">
              <a:latin typeface="Times New Roman"/>
            </a:endParaRPr>
          </a:p>
        </p:txBody>
      </p:sp>
      <p:sp>
        <p:nvSpPr>
          <p:cNvPr id="18" name="PlaceHolder 12"/>
          <p:cNvSpPr>
            <a:spLocks noGrp="1"/>
          </p:cNvSpPr>
          <p:nvPr>
            <p:ph type="ftr"/>
          </p:nvPr>
        </p:nvSpPr>
        <p:spPr>
          <a:xfrm>
            <a:off x="3124080" y="6356520"/>
            <a:ext cx="2895120" cy="364680"/>
          </a:xfrm>
          <a:prstGeom prst="rect">
            <a:avLst/>
          </a:prstGeom>
        </p:spPr>
        <p:txBody>
          <a:bodyPr anchor="ctr">
            <a:noAutofit/>
          </a:bodyPr>
          <a:lstStyle/>
          <a:p>
            <a:r>
              <a:rPr lang="en-GB" sz="2400" b="0" strike="noStrike" spc="-1">
                <a:latin typeface="Times New Roman"/>
              </a:rPr>
              <a:t>Name</a:t>
            </a:r>
          </a:p>
        </p:txBody>
      </p:sp>
      <p:sp>
        <p:nvSpPr>
          <p:cNvPr id="19" name="PlaceHolder 13"/>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1CFDC92E-FF5D-4613-8499-B15BC16E50D9}" type="slidenum">
              <a:rPr lang="en-US" sz="1200" b="0" strike="noStrike" spc="-1">
                <a:solidFill>
                  <a:srgbClr val="898989"/>
                </a:solidFill>
                <a:latin typeface="Calibri"/>
                <a:ea typeface="MS PGothic"/>
              </a:rPr>
              <a:pPr algn="r">
                <a:lnSpc>
                  <a:spcPct val="100000"/>
                </a:lnSpc>
              </a:pPr>
              <a:t>‹#›</a:t>
            </a:fld>
            <a:endParaRPr lang="en-GB"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Shape 1"/>
          <p:cNvSpPr txBox="1"/>
          <p:nvPr/>
        </p:nvSpPr>
        <p:spPr>
          <a:xfrm>
            <a:off x="0" y="840631"/>
            <a:ext cx="9144000" cy="5377289"/>
          </a:xfrm>
          <a:prstGeom prst="rect">
            <a:avLst/>
          </a:prstGeom>
          <a:noFill/>
          <a:ln w="9360">
            <a:noFill/>
          </a:ln>
        </p:spPr>
        <p:txBody>
          <a:bodyPr>
            <a:noAutofit/>
          </a:bodyPr>
          <a:lstStyle/>
          <a:p>
            <a:pPr algn="ctr">
              <a:lnSpc>
                <a:spcPct val="100000"/>
              </a:lnSpc>
              <a:spcBef>
                <a:spcPts val="400"/>
              </a:spcBef>
            </a:pPr>
            <a:r>
              <a:rPr lang="en-IN" b="1" dirty="0">
                <a:latin typeface="Times New Roman" panose="02020603050405020304" pitchFamily="18" charset="0"/>
                <a:ea typeface="Calibri" panose="020F0502020204030204" pitchFamily="34" charset="0"/>
                <a:cs typeface="Times New Roman" panose="02020603050405020304" pitchFamily="18" charset="0"/>
              </a:rPr>
              <a:t>Project Presentation of Industry Oriented Hands on Experience (22CS422)</a:t>
            </a:r>
          </a:p>
          <a:p>
            <a:pPr algn="ctr">
              <a:lnSpc>
                <a:spcPct val="100000"/>
              </a:lnSpc>
              <a:spcBef>
                <a:spcPts val="400"/>
              </a:spcBef>
            </a:pPr>
            <a:r>
              <a:rPr lang="en-US" sz="2000" spc="-1" dirty="0">
                <a:latin typeface="Times New Roman" panose="02020603050405020304" pitchFamily="18" charset="0"/>
                <a:ea typeface="Calibri" panose="020F0502020204030204" pitchFamily="34" charset="0"/>
                <a:cs typeface="Times New Roman" panose="02020603050405020304" pitchFamily="18" charset="0"/>
              </a:rPr>
              <a:t>On</a:t>
            </a:r>
          </a:p>
          <a:p>
            <a:pPr algn="ctr">
              <a:lnSpc>
                <a:spcPct val="100000"/>
              </a:lnSpc>
              <a:spcBef>
                <a:spcPts val="400"/>
              </a:spcBef>
            </a:pPr>
            <a:r>
              <a:rPr lang="en-US" sz="4800" dirty="0">
                <a:latin typeface="Times New Roman" panose="02020603050405020304" pitchFamily="18" charset="0"/>
                <a:ea typeface="Calibri" panose="020F0502020204030204" pitchFamily="34" charset="0"/>
                <a:cs typeface="Times New Roman" panose="02020603050405020304" pitchFamily="18" charset="0"/>
              </a:rPr>
              <a:t>Reducing Hallucination in AI using RAG </a:t>
            </a:r>
            <a:endParaRPr lang="en-US" sz="2000" i="1" spc="-1" dirty="0">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00000"/>
              </a:lnSpc>
              <a:spcBef>
                <a:spcPts val="400"/>
              </a:spcBef>
            </a:pPr>
            <a:b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br>
            <a:r>
              <a:rPr lang="en-US" sz="2000" spc="-1" dirty="0">
                <a:solidFill>
                  <a:srgbClr val="000000"/>
                </a:solidFill>
                <a:latin typeface="Times New Roman" panose="02020603050405020304" pitchFamily="18" charset="0"/>
                <a:ea typeface="MS PGothic"/>
                <a:cs typeface="Times New Roman" panose="02020603050405020304" pitchFamily="18" charset="0"/>
              </a:rPr>
              <a:t>Heena (2210990397)</a:t>
            </a: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Harsh Guleri (2210990379)</a:t>
            </a:r>
          </a:p>
          <a:p>
            <a:pPr algn="ctr">
              <a:lnSpc>
                <a:spcPct val="100000"/>
              </a:lnSpc>
              <a:spcBef>
                <a:spcPts val="400"/>
              </a:spcBef>
            </a:pPr>
            <a:endParaRPr lang="en-US" sz="2000" b="0" strike="noStrike"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Supervised By</a:t>
            </a: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Dr. Gifty Gupta</a:t>
            </a:r>
            <a:endParaRPr lang="en-US" sz="2000" b="0" strike="noStrike"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400" spc="-1" dirty="0">
                <a:latin typeface="Times New Roman" panose="02020603050405020304" pitchFamily="18" charset="0"/>
                <a:ea typeface="MS PGothic"/>
                <a:cs typeface="Times New Roman" panose="02020603050405020304" pitchFamily="18" charset="0"/>
              </a:rPr>
              <a:t>Department of </a:t>
            </a:r>
            <a:r>
              <a:rPr lang="en-US" sz="2400" b="0" strike="noStrike" spc="-1" dirty="0">
                <a:latin typeface="Times New Roman" panose="02020603050405020304" pitchFamily="18" charset="0"/>
                <a:ea typeface="MS PGothic"/>
                <a:cs typeface="Times New Roman" panose="02020603050405020304" pitchFamily="18" charset="0"/>
              </a:rPr>
              <a:t>Computer Science and Engineering, </a:t>
            </a:r>
          </a:p>
          <a:p>
            <a:pPr algn="ctr">
              <a:lnSpc>
                <a:spcPct val="100000"/>
              </a:lnSpc>
              <a:spcBef>
                <a:spcPts val="400"/>
              </a:spcBef>
            </a:pPr>
            <a:r>
              <a:rPr lang="en-US" sz="2400" b="0" strike="noStrike" spc="-1" dirty="0">
                <a:latin typeface="Times New Roman" panose="02020603050405020304" pitchFamily="18" charset="0"/>
                <a:ea typeface="MS PGothic"/>
                <a:cs typeface="Times New Roman" panose="02020603050405020304" pitchFamily="18" charset="0"/>
              </a:rPr>
              <a:t>Chitkara University, Punjab</a:t>
            </a:r>
          </a:p>
          <a:p>
            <a:pPr algn="ctr">
              <a:lnSpc>
                <a:spcPct val="150000"/>
              </a:lnSpc>
              <a:spcBef>
                <a:spcPts val="400"/>
              </a:spcBef>
            </a:pPr>
            <a:endParaRPr lang="en-US" sz="2000" b="0" strike="noStrike" spc="-1" dirty="0">
              <a:solidFill>
                <a:srgbClr val="000000"/>
              </a:solidFill>
              <a:latin typeface="Calibri"/>
            </a:endParaRPr>
          </a:p>
          <a:p>
            <a:pPr>
              <a:lnSpc>
                <a:spcPct val="100000"/>
              </a:lnSpc>
              <a:spcBef>
                <a:spcPts val="641"/>
              </a:spcBef>
            </a:pPr>
            <a:endParaRPr lang="en-US" sz="2000" b="0" strike="noStrike" spc="-1" dirty="0">
              <a:solidFill>
                <a:srgbClr val="000000"/>
              </a:solidFill>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 sz="3200" dirty="0">
                <a:latin typeface="Times New Roman" panose="02020603050405020304" pitchFamily="18" charset="0"/>
                <a:cs typeface="Times New Roman" panose="02020603050405020304" pitchFamily="18" charset="0"/>
              </a:rPr>
              <a:t>Introduction</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2</a:t>
            </a:fld>
            <a:endParaRPr lang="en-GB" sz="1200" b="0" strike="noStrike" spc="-1">
              <a:latin typeface="Times New Roman"/>
            </a:endParaRPr>
          </a:p>
        </p:txBody>
      </p:sp>
      <p:sp>
        <p:nvSpPr>
          <p:cNvPr id="5" name="TextShape 2"/>
          <p:cNvSpPr txBox="1"/>
          <p:nvPr/>
        </p:nvSpPr>
        <p:spPr>
          <a:xfrm>
            <a:off x="164008" y="1109742"/>
            <a:ext cx="8838720" cy="4838571"/>
          </a:xfrm>
          <a:prstGeom prst="rect">
            <a:avLst/>
          </a:prstGeom>
          <a:noFill/>
          <a:ln w="9360">
            <a:noFill/>
          </a:ln>
        </p:spPr>
        <p:txBody>
          <a:bodyPr>
            <a:noAutofit/>
          </a:bodyPr>
          <a:lstStyle/>
          <a:p>
            <a:pPr algn="just"/>
            <a:r>
              <a:rPr lang="en-US" sz="2000" dirty="0">
                <a:latin typeface="Times New Roman" panose="02020603050405020304" pitchFamily="18" charset="0"/>
                <a:cs typeface="Times New Roman" panose="02020603050405020304" pitchFamily="18" charset="0"/>
              </a:rPr>
              <a:t>Large Language Models (LLMs) have significantly transformed the field of Natural Language Processing (NLP) by enabling machines to generate coherent, context-aware, and human-like text.</a:t>
            </a:r>
          </a:p>
          <a:p>
            <a:pPr algn="just"/>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These models are built on advanced deep learning architectures, particularly transformer-based models, which allow them to understand complex language patterns and generate meaningful responses.</a:t>
            </a:r>
          </a:p>
          <a:p>
            <a:pPr algn="just"/>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They are widely used in applications such as chatbots, virtual assistants, content generation tools, and intelligent learning systems.</a:t>
            </a:r>
          </a:p>
          <a:p>
            <a:pPr algn="just"/>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However, despite their effectiveness, LLMs often generate responses that appear correct but are factually inaccurate or misleading. This limitation reduces their reliability and poses challenges when applied in real-world scenarios that require high accuracy.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357660-AF64-07C2-63C9-0A99889993C7}"/>
              </a:ext>
            </a:extLst>
          </p:cNvPr>
          <p:cNvSpPr>
            <a:spLocks noGrp="1"/>
          </p:cNvSpPr>
          <p:nvPr>
            <p:ph type="title"/>
          </p:nvPr>
        </p:nvSpPr>
        <p:spPr/>
        <p:txBody>
          <a:bodyPr/>
          <a:lstStyle/>
          <a:p>
            <a:pPr algn="ctr"/>
            <a:r>
              <a:rPr lang="en-IN" sz="3200" dirty="0">
                <a:latin typeface="Times New Roman" panose="02020603050405020304" pitchFamily="18" charset="0"/>
                <a:cs typeface="Times New Roman" panose="02020603050405020304" pitchFamily="18" charset="0"/>
              </a:rPr>
              <a:t>Problem Statement</a:t>
            </a:r>
          </a:p>
        </p:txBody>
      </p:sp>
      <p:sp>
        <p:nvSpPr>
          <p:cNvPr id="3" name="Text Placeholder 2">
            <a:extLst>
              <a:ext uri="{FF2B5EF4-FFF2-40B4-BE49-F238E27FC236}">
                <a16:creationId xmlns:a16="http://schemas.microsoft.com/office/drawing/2014/main" id="{31F11F9F-5B4D-C939-9DC5-96AC860324D8}"/>
              </a:ext>
            </a:extLst>
          </p:cNvPr>
          <p:cNvSpPr>
            <a:spLocks noGrp="1"/>
          </p:cNvSpPr>
          <p:nvPr>
            <p:ph type="body"/>
          </p:nvPr>
        </p:nvSpPr>
        <p:spPr>
          <a:xfrm>
            <a:off x="457200" y="1421297"/>
            <a:ext cx="8229240" cy="4760842"/>
          </a:xfrm>
        </p:spPr>
        <p:txBody>
          <a:bodyPr>
            <a:normAutofit lnSpcReduction="10000"/>
          </a:bodyPr>
          <a:lstStyle/>
          <a:p>
            <a:pPr marL="0" indent="0" algn="just">
              <a:buNone/>
            </a:pPr>
            <a:r>
              <a:rPr lang="en-US" sz="2000" dirty="0">
                <a:latin typeface="Times New Roman" panose="02020603050405020304" pitchFamily="18" charset="0"/>
                <a:cs typeface="Times New Roman" panose="02020603050405020304" pitchFamily="18" charset="0"/>
              </a:rPr>
              <a:t>One of the major challenges in Large Language Models (LLMs) is hallucination, where the model generates incorrect or fabricated information while presenting it with high confidence.</a:t>
            </a:r>
          </a:p>
          <a:p>
            <a:pPr marL="0" indent="0" algn="just">
              <a:buNone/>
            </a:pPr>
            <a:endParaRPr lang="en-US" sz="2000" dirty="0">
              <a:latin typeface="Times New Roman" panose="02020603050405020304" pitchFamily="18" charset="0"/>
              <a:cs typeface="Times New Roman" panose="02020603050405020304" pitchFamily="18" charset="0"/>
            </a:endParaRPr>
          </a:p>
          <a:p>
            <a:pPr marL="0" indent="0" algn="just">
              <a:buNone/>
            </a:pPr>
            <a:r>
              <a:rPr lang="en-US" sz="2000" dirty="0">
                <a:latin typeface="Times New Roman" panose="02020603050405020304" pitchFamily="18" charset="0"/>
                <a:cs typeface="Times New Roman" panose="02020603050405020304" pitchFamily="18" charset="0"/>
              </a:rPr>
              <a:t>This issue arises because LLMs rely on statistical patterns learned during training rather than accessing verified, real-time, or external knowledge sources. As a result, the model may produce responses that sound plausible but are not factually correct.</a:t>
            </a:r>
          </a:p>
          <a:p>
            <a:pPr marL="0" indent="0" algn="just">
              <a:buNone/>
            </a:pPr>
            <a:endParaRPr lang="en-US" sz="2000" dirty="0">
              <a:latin typeface="Times New Roman" panose="02020603050405020304" pitchFamily="18" charset="0"/>
              <a:cs typeface="Times New Roman" panose="02020603050405020304" pitchFamily="18" charset="0"/>
            </a:endParaRPr>
          </a:p>
          <a:p>
            <a:pPr marL="0" indent="0" algn="just">
              <a:buNone/>
            </a:pPr>
            <a:r>
              <a:rPr lang="en-US" sz="2000" dirty="0">
                <a:latin typeface="Times New Roman" panose="02020603050405020304" pitchFamily="18" charset="0"/>
                <a:cs typeface="Times New Roman" panose="02020603050405020304" pitchFamily="18" charset="0"/>
              </a:rPr>
              <a:t>Hallucinations are more likely to occur when the input query is ambiguous, lacks sufficient context, or falls outside the model’s training data.</a:t>
            </a:r>
          </a:p>
          <a:p>
            <a:pPr marL="0" indent="0" algn="just">
              <a:buNone/>
            </a:pPr>
            <a:endParaRPr lang="en-US" sz="2000" dirty="0">
              <a:latin typeface="Times New Roman" panose="02020603050405020304" pitchFamily="18" charset="0"/>
              <a:cs typeface="Times New Roman" panose="02020603050405020304" pitchFamily="18" charset="0"/>
            </a:endParaRPr>
          </a:p>
          <a:p>
            <a:pPr marL="0" indent="0" algn="just">
              <a:buNone/>
            </a:pPr>
            <a:r>
              <a:rPr lang="en-US" sz="2000" dirty="0">
                <a:latin typeface="Times New Roman" panose="02020603050405020304" pitchFamily="18" charset="0"/>
                <a:cs typeface="Times New Roman" panose="02020603050405020304" pitchFamily="18" charset="0"/>
              </a:rPr>
              <a:t>Such inaccuracies become critical in domains like academic systems, healthcare, and institutional decision-making, where correctness and reliability are essential for proper outcomes.</a:t>
            </a:r>
          </a:p>
        </p:txBody>
      </p:sp>
    </p:spTree>
    <p:extLst>
      <p:ext uri="{BB962C8B-B14F-4D97-AF65-F5344CB8AC3E}">
        <p14:creationId xmlns:p14="http://schemas.microsoft.com/office/powerpoint/2010/main" val="17873297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1AA56F-22AD-DDC1-1A86-30FF0B8F5C54}"/>
              </a:ext>
            </a:extLst>
          </p:cNvPr>
          <p:cNvSpPr>
            <a:spLocks noGrp="1"/>
          </p:cNvSpPr>
          <p:nvPr>
            <p:ph type="title"/>
          </p:nvPr>
        </p:nvSpPr>
        <p:spPr/>
        <p:txBody>
          <a:bodyPr/>
          <a:lstStyle/>
          <a:p>
            <a:pPr algn="ctr"/>
            <a:r>
              <a:rPr lang="en-IN" sz="3200" dirty="0">
                <a:latin typeface="Times New Roman" panose="02020603050405020304" pitchFamily="18" charset="0"/>
                <a:cs typeface="Times New Roman" panose="02020603050405020304" pitchFamily="18" charset="0"/>
              </a:rPr>
              <a:t>Proposed Solution – RAG</a:t>
            </a:r>
          </a:p>
        </p:txBody>
      </p:sp>
      <p:sp>
        <p:nvSpPr>
          <p:cNvPr id="3" name="Text Placeholder 2">
            <a:extLst>
              <a:ext uri="{FF2B5EF4-FFF2-40B4-BE49-F238E27FC236}">
                <a16:creationId xmlns:a16="http://schemas.microsoft.com/office/drawing/2014/main" id="{10BAD0C4-73B3-5CB9-1A09-F726BAFE73A7}"/>
              </a:ext>
            </a:extLst>
          </p:cNvPr>
          <p:cNvSpPr>
            <a:spLocks noGrp="1"/>
          </p:cNvSpPr>
          <p:nvPr>
            <p:ph type="body"/>
          </p:nvPr>
        </p:nvSpPr>
        <p:spPr>
          <a:xfrm>
            <a:off x="457380" y="1534945"/>
            <a:ext cx="8229240" cy="4806219"/>
          </a:xfrm>
        </p:spPr>
        <p:txBody>
          <a:bodyPr>
            <a:normAutofit lnSpcReduction="10000"/>
          </a:bodyPr>
          <a:lstStyle/>
          <a:p>
            <a:pPr marL="0" indent="0" algn="just">
              <a:buNone/>
            </a:pPr>
            <a:r>
              <a:rPr lang="en-US" sz="2000" dirty="0">
                <a:latin typeface="Times New Roman" panose="02020603050405020304" pitchFamily="18" charset="0"/>
                <a:cs typeface="Times New Roman" panose="02020603050405020304" pitchFamily="18" charset="0"/>
              </a:rPr>
              <a:t>Retrieval-Augmented Generation (RAG) is a hybrid approach that combines information retrieval with language generation to improve the accuracy of AI responses.</a:t>
            </a:r>
          </a:p>
          <a:p>
            <a:pPr marL="0" indent="0" algn="just">
              <a:buNone/>
            </a:pPr>
            <a:endParaRPr lang="en-US" sz="2000" dirty="0">
              <a:latin typeface="Times New Roman" panose="02020603050405020304" pitchFamily="18" charset="0"/>
              <a:cs typeface="Times New Roman" panose="02020603050405020304" pitchFamily="18" charset="0"/>
            </a:endParaRPr>
          </a:p>
          <a:p>
            <a:pPr marL="0" indent="0" algn="just">
              <a:buNone/>
            </a:pPr>
            <a:r>
              <a:rPr lang="en-US" sz="2000" dirty="0">
                <a:latin typeface="Times New Roman" panose="02020603050405020304" pitchFamily="18" charset="0"/>
                <a:cs typeface="Times New Roman" panose="02020603050405020304" pitchFamily="18" charset="0"/>
              </a:rPr>
              <a:t>In this approach, the system first retrieves relevant documents from an external knowledge base using search techniques such as keyword matching or vector similarity. These documents provide factual and domain-specific information.</a:t>
            </a:r>
          </a:p>
          <a:p>
            <a:pPr algn="just"/>
            <a:endParaRPr lang="en-US" sz="2000" dirty="0">
              <a:latin typeface="Times New Roman" panose="02020603050405020304" pitchFamily="18" charset="0"/>
              <a:cs typeface="Times New Roman" panose="02020603050405020304" pitchFamily="18" charset="0"/>
            </a:endParaRPr>
          </a:p>
          <a:p>
            <a:pPr marL="0" indent="0" algn="just">
              <a:buNone/>
            </a:pPr>
            <a:r>
              <a:rPr lang="en-US" sz="2000" dirty="0">
                <a:latin typeface="Times New Roman" panose="02020603050405020304" pitchFamily="18" charset="0"/>
                <a:cs typeface="Times New Roman" panose="02020603050405020304" pitchFamily="18" charset="0"/>
              </a:rPr>
              <a:t>The retrieved content is then passed to the language model as context, allowing it to generate responses that are informed by real data rather than relying solely on its internal knowledge.</a:t>
            </a:r>
          </a:p>
          <a:p>
            <a:pPr algn="just"/>
            <a:endParaRPr lang="en-US" sz="2000" dirty="0">
              <a:latin typeface="Times New Roman" panose="02020603050405020304" pitchFamily="18" charset="0"/>
              <a:cs typeface="Times New Roman" panose="02020603050405020304" pitchFamily="18" charset="0"/>
            </a:endParaRPr>
          </a:p>
          <a:p>
            <a:pPr marL="0" indent="0" algn="just">
              <a:buNone/>
            </a:pPr>
            <a:r>
              <a:rPr lang="en-US" sz="2000" dirty="0">
                <a:latin typeface="Times New Roman" panose="02020603050405020304" pitchFamily="18" charset="0"/>
                <a:cs typeface="Times New Roman" panose="02020603050405020304" pitchFamily="18" charset="0"/>
              </a:rPr>
              <a:t>This process ensures that the generated output is grounded in verified information, reducing hallucination and improving both accuracy and reliability of the system.</a:t>
            </a:r>
          </a:p>
        </p:txBody>
      </p:sp>
    </p:spTree>
    <p:extLst>
      <p:ext uri="{BB962C8B-B14F-4D97-AF65-F5344CB8AC3E}">
        <p14:creationId xmlns:p14="http://schemas.microsoft.com/office/powerpoint/2010/main" val="5205258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82858C-2D9D-5ED9-9D33-87D8ECC7733A}"/>
              </a:ext>
            </a:extLst>
          </p:cNvPr>
          <p:cNvSpPr>
            <a:spLocks noGrp="1"/>
          </p:cNvSpPr>
          <p:nvPr>
            <p:ph type="title"/>
          </p:nvPr>
        </p:nvSpPr>
        <p:spPr/>
        <p:txBody>
          <a:bodyPr/>
          <a:lstStyle/>
          <a:p>
            <a:pPr algn="ctr"/>
            <a:r>
              <a:rPr lang="en-IN" sz="3200" dirty="0">
                <a:latin typeface="Times New Roman" panose="02020603050405020304" pitchFamily="18" charset="0"/>
                <a:cs typeface="Times New Roman" panose="02020603050405020304" pitchFamily="18" charset="0"/>
              </a:rPr>
              <a:t>Methodology Overview</a:t>
            </a:r>
          </a:p>
        </p:txBody>
      </p:sp>
      <p:sp>
        <p:nvSpPr>
          <p:cNvPr id="3" name="Text Placeholder 2">
            <a:extLst>
              <a:ext uri="{FF2B5EF4-FFF2-40B4-BE49-F238E27FC236}">
                <a16:creationId xmlns:a16="http://schemas.microsoft.com/office/drawing/2014/main" id="{EF52717D-55D7-72CD-AD3E-D1802792F3F7}"/>
              </a:ext>
            </a:extLst>
          </p:cNvPr>
          <p:cNvSpPr>
            <a:spLocks noGrp="1"/>
          </p:cNvSpPr>
          <p:nvPr>
            <p:ph type="body"/>
          </p:nvPr>
        </p:nvSpPr>
        <p:spPr>
          <a:xfrm>
            <a:off x="457200" y="1302027"/>
            <a:ext cx="8229240" cy="5138530"/>
          </a:xfrm>
        </p:spPr>
        <p:txBody>
          <a:bodyPr>
            <a:normAutofit lnSpcReduction="10000"/>
          </a:bodyPr>
          <a:lstStyle/>
          <a:p>
            <a:pPr marL="0" indent="0" algn="just">
              <a:buNone/>
            </a:pPr>
            <a:r>
              <a:rPr lang="en-US" sz="2000" dirty="0">
                <a:latin typeface="Times New Roman" panose="02020603050405020304" pitchFamily="18" charset="0"/>
                <a:cs typeface="Times New Roman" panose="02020603050405020304" pitchFamily="18" charset="0"/>
              </a:rPr>
              <a:t>The proposed system is designed using a structured pipeline consisting of multiple stages to ensure accurate and context-aware response generation.</a:t>
            </a:r>
          </a:p>
          <a:p>
            <a:pPr marL="0" indent="0" algn="just">
              <a:buNone/>
            </a:pPr>
            <a:endParaRPr lang="en-US" sz="2000" dirty="0">
              <a:latin typeface="Times New Roman" panose="02020603050405020304" pitchFamily="18" charset="0"/>
              <a:cs typeface="Times New Roman" panose="02020603050405020304" pitchFamily="18" charset="0"/>
            </a:endParaRPr>
          </a:p>
          <a:p>
            <a:pPr marL="0" indent="0" algn="just">
              <a:buNone/>
            </a:pPr>
            <a:r>
              <a:rPr lang="en-US" sz="2000" dirty="0">
                <a:latin typeface="Times New Roman" panose="02020603050405020304" pitchFamily="18" charset="0"/>
                <a:cs typeface="Times New Roman" panose="02020603050405020304" pitchFamily="18" charset="0"/>
              </a:rPr>
              <a:t>A domain-specific dataset is created using syllabus documents, institutional policies, and course materials, which act as the knowledge base for the system and ensure contextual relevance.</a:t>
            </a:r>
          </a:p>
          <a:p>
            <a:pPr marL="0" indent="0" algn="just">
              <a:buNone/>
            </a:pPr>
            <a:endParaRPr lang="en-US" sz="2000" dirty="0">
              <a:latin typeface="Times New Roman" panose="02020603050405020304" pitchFamily="18" charset="0"/>
              <a:cs typeface="Times New Roman" panose="02020603050405020304" pitchFamily="18" charset="0"/>
            </a:endParaRPr>
          </a:p>
          <a:p>
            <a:pPr marL="0" indent="0" algn="just">
              <a:buNone/>
            </a:pPr>
            <a:r>
              <a:rPr lang="en-US" sz="2000" dirty="0">
                <a:latin typeface="Times New Roman" panose="02020603050405020304" pitchFamily="18" charset="0"/>
                <a:cs typeface="Times New Roman" panose="02020603050405020304" pitchFamily="18" charset="0"/>
              </a:rPr>
              <a:t>The data is then preprocessed and divided into smaller chunks to improve retrieval efficiency and maintain meaningful context.</a:t>
            </a:r>
          </a:p>
          <a:p>
            <a:pPr marL="0" indent="0" algn="just">
              <a:buNone/>
            </a:pPr>
            <a:endParaRPr lang="en-US" sz="2000" dirty="0">
              <a:latin typeface="Times New Roman" panose="02020603050405020304" pitchFamily="18" charset="0"/>
              <a:cs typeface="Times New Roman" panose="02020603050405020304" pitchFamily="18" charset="0"/>
            </a:endParaRPr>
          </a:p>
          <a:p>
            <a:pPr marL="0" indent="0" algn="just">
              <a:buNone/>
            </a:pPr>
            <a:r>
              <a:rPr lang="en-US" sz="2000" dirty="0">
                <a:latin typeface="Times New Roman" panose="02020603050405020304" pitchFamily="18" charset="0"/>
                <a:cs typeface="Times New Roman" panose="02020603050405020304" pitchFamily="18" charset="0"/>
              </a:rPr>
              <a:t>These chunks are indexed and retrieved using different search techniques such as keyword-based search, vector similarity, and hybrid retrieval methods.</a:t>
            </a:r>
          </a:p>
          <a:p>
            <a:pPr marL="0" indent="0" algn="just">
              <a:buNone/>
            </a:pPr>
            <a:endParaRPr lang="en-US" sz="2000" dirty="0">
              <a:latin typeface="Times New Roman" panose="02020603050405020304" pitchFamily="18" charset="0"/>
              <a:cs typeface="Times New Roman" panose="02020603050405020304" pitchFamily="18" charset="0"/>
            </a:endParaRPr>
          </a:p>
          <a:p>
            <a:pPr marL="0" indent="0" algn="just">
              <a:buNone/>
            </a:pPr>
            <a:r>
              <a:rPr lang="en-US" sz="2000" dirty="0">
                <a:latin typeface="Times New Roman" panose="02020603050405020304" pitchFamily="18" charset="0"/>
                <a:cs typeface="Times New Roman" panose="02020603050405020304" pitchFamily="18" charset="0"/>
              </a:rPr>
              <a:t>Finally, a pre-trained language model generates responses by utilizing the retrieved context, ensuring that the output is grounded in relevant and factual information.</a:t>
            </a:r>
          </a:p>
        </p:txBody>
      </p:sp>
    </p:spTree>
    <p:extLst>
      <p:ext uri="{BB962C8B-B14F-4D97-AF65-F5344CB8AC3E}">
        <p14:creationId xmlns:p14="http://schemas.microsoft.com/office/powerpoint/2010/main" val="25417403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1C1DEA-CAFB-0ACF-970E-4852446B30AF}"/>
              </a:ext>
            </a:extLst>
          </p:cNvPr>
          <p:cNvSpPr>
            <a:spLocks noGrp="1"/>
          </p:cNvSpPr>
          <p:nvPr>
            <p:ph type="title"/>
          </p:nvPr>
        </p:nvSpPr>
        <p:spPr>
          <a:xfrm>
            <a:off x="-1" y="0"/>
            <a:ext cx="6301409" cy="914040"/>
          </a:xfrm>
        </p:spPr>
        <p:txBody>
          <a:bodyPr/>
          <a:lstStyle/>
          <a:p>
            <a:r>
              <a:rPr lang="en-IN" sz="3200" dirty="0">
                <a:latin typeface="Times New Roman" panose="02020603050405020304" pitchFamily="18" charset="0"/>
                <a:cs typeface="Times New Roman" panose="02020603050405020304" pitchFamily="18" charset="0"/>
              </a:rPr>
              <a:t>Chunking and Retrieval Techniques</a:t>
            </a:r>
          </a:p>
        </p:txBody>
      </p:sp>
      <p:sp>
        <p:nvSpPr>
          <p:cNvPr id="3" name="Text Placeholder 2">
            <a:extLst>
              <a:ext uri="{FF2B5EF4-FFF2-40B4-BE49-F238E27FC236}">
                <a16:creationId xmlns:a16="http://schemas.microsoft.com/office/drawing/2014/main" id="{6AF4CE78-3BE5-11D4-6737-159EB3331BC9}"/>
              </a:ext>
            </a:extLst>
          </p:cNvPr>
          <p:cNvSpPr>
            <a:spLocks noGrp="1"/>
          </p:cNvSpPr>
          <p:nvPr>
            <p:ph type="body"/>
          </p:nvPr>
        </p:nvSpPr>
        <p:spPr>
          <a:xfrm>
            <a:off x="457380" y="1475310"/>
            <a:ext cx="8229240" cy="4905611"/>
          </a:xfrm>
        </p:spPr>
        <p:txBody>
          <a:bodyPr>
            <a:normAutofit/>
          </a:bodyPr>
          <a:lstStyle/>
          <a:p>
            <a:pPr marL="0" indent="0" algn="just">
              <a:buNone/>
            </a:pPr>
            <a:r>
              <a:rPr lang="en-US" sz="2000" dirty="0">
                <a:latin typeface="Times New Roman" panose="02020603050405020304" pitchFamily="18" charset="0"/>
                <a:cs typeface="Times New Roman" panose="02020603050405020304" pitchFamily="18" charset="0"/>
              </a:rPr>
              <a:t>Efficient data handling is achieved through chunking and retrieval strategies.</a:t>
            </a:r>
          </a:p>
          <a:p>
            <a:pPr marL="0" indent="0" algn="just">
              <a:buNone/>
            </a:pPr>
            <a:endParaRPr lang="en-US" sz="2000" dirty="0">
              <a:latin typeface="Times New Roman" panose="02020603050405020304" pitchFamily="18" charset="0"/>
              <a:cs typeface="Times New Roman" panose="02020603050405020304" pitchFamily="18" charset="0"/>
            </a:endParaRPr>
          </a:p>
          <a:p>
            <a:pPr marL="0" indent="0" algn="just">
              <a:buNone/>
            </a:pPr>
            <a:r>
              <a:rPr lang="en-US" sz="2000" dirty="0">
                <a:latin typeface="Times New Roman" panose="02020603050405020304" pitchFamily="18" charset="0"/>
                <a:cs typeface="Times New Roman" panose="02020603050405020304" pitchFamily="18" charset="0"/>
              </a:rPr>
              <a:t>Fixed-length chunking divides text into equal-sized segments but may disrupt contextual meaning.</a:t>
            </a:r>
          </a:p>
          <a:p>
            <a:pPr marL="0" indent="0" algn="just">
              <a:buNone/>
            </a:pPr>
            <a:endParaRPr lang="en-US" sz="2000" dirty="0">
              <a:latin typeface="Times New Roman" panose="02020603050405020304" pitchFamily="18" charset="0"/>
              <a:cs typeface="Times New Roman" panose="02020603050405020304" pitchFamily="18" charset="0"/>
            </a:endParaRPr>
          </a:p>
          <a:p>
            <a:pPr marL="0" indent="0" algn="just">
              <a:buNone/>
            </a:pPr>
            <a:r>
              <a:rPr lang="en-US" sz="2000" dirty="0">
                <a:latin typeface="Times New Roman" panose="02020603050405020304" pitchFamily="18" charset="0"/>
                <a:cs typeface="Times New Roman" panose="02020603050405020304" pitchFamily="18" charset="0"/>
              </a:rPr>
              <a:t>Semantic chunking, on the other hand, splits text based on meaning and logical structure, preserving context.</a:t>
            </a:r>
          </a:p>
          <a:p>
            <a:pPr marL="0" indent="0" algn="just">
              <a:buNone/>
            </a:pPr>
            <a:endParaRPr lang="en-US" sz="2000" dirty="0">
              <a:latin typeface="Times New Roman" panose="02020603050405020304" pitchFamily="18" charset="0"/>
              <a:cs typeface="Times New Roman" panose="02020603050405020304" pitchFamily="18" charset="0"/>
            </a:endParaRPr>
          </a:p>
          <a:p>
            <a:pPr marL="0" indent="0" algn="just">
              <a:buNone/>
            </a:pPr>
            <a:r>
              <a:rPr lang="en-US" sz="2000" dirty="0">
                <a:latin typeface="Times New Roman" panose="02020603050405020304" pitchFamily="18" charset="0"/>
                <a:cs typeface="Times New Roman" panose="02020603050405020304" pitchFamily="18" charset="0"/>
              </a:rPr>
              <a:t>For retrieval, keyword-based search identifies exact matches, while vector similarity search captures semantic relationships.</a:t>
            </a:r>
          </a:p>
          <a:p>
            <a:pPr marL="0" indent="0" algn="just">
              <a:buNone/>
            </a:pPr>
            <a:endParaRPr lang="en-US" sz="2000" dirty="0">
              <a:latin typeface="Times New Roman" panose="02020603050405020304" pitchFamily="18" charset="0"/>
              <a:cs typeface="Times New Roman" panose="02020603050405020304" pitchFamily="18" charset="0"/>
            </a:endParaRPr>
          </a:p>
          <a:p>
            <a:pPr marL="0" indent="0" algn="just">
              <a:buNone/>
            </a:pPr>
            <a:r>
              <a:rPr lang="en-US" sz="2000" dirty="0">
                <a:latin typeface="Times New Roman" panose="02020603050405020304" pitchFamily="18" charset="0"/>
                <a:cs typeface="Times New Roman" panose="02020603050405020304" pitchFamily="18" charset="0"/>
              </a:rPr>
              <a:t>A hybrid approach combines both methods, resulting in improved accuracy and relevance.</a:t>
            </a:r>
          </a:p>
          <a:p>
            <a:pPr marL="0" indent="0" algn="just">
              <a:buNone/>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622399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5623A3-B791-E0AB-6EEC-747478596668}"/>
              </a:ext>
            </a:extLst>
          </p:cNvPr>
          <p:cNvSpPr>
            <a:spLocks noGrp="1"/>
          </p:cNvSpPr>
          <p:nvPr>
            <p:ph type="title"/>
          </p:nvPr>
        </p:nvSpPr>
        <p:spPr/>
        <p:txBody>
          <a:bodyPr/>
          <a:lstStyle/>
          <a:p>
            <a:pPr algn="ctr"/>
            <a:r>
              <a:rPr lang="en-IN" sz="3200" dirty="0">
                <a:latin typeface="Times New Roman" panose="02020603050405020304" pitchFamily="18" charset="0"/>
                <a:cs typeface="Times New Roman" panose="02020603050405020304" pitchFamily="18" charset="0"/>
              </a:rPr>
              <a:t>RAG Architecture</a:t>
            </a:r>
          </a:p>
        </p:txBody>
      </p:sp>
      <p:sp>
        <p:nvSpPr>
          <p:cNvPr id="3" name="Text Placeholder 2">
            <a:extLst>
              <a:ext uri="{FF2B5EF4-FFF2-40B4-BE49-F238E27FC236}">
                <a16:creationId xmlns:a16="http://schemas.microsoft.com/office/drawing/2014/main" id="{FC476DE7-4D53-641C-2832-0466C1527F2C}"/>
              </a:ext>
            </a:extLst>
          </p:cNvPr>
          <p:cNvSpPr>
            <a:spLocks noGrp="1"/>
          </p:cNvSpPr>
          <p:nvPr>
            <p:ph type="body"/>
          </p:nvPr>
        </p:nvSpPr>
        <p:spPr/>
        <p:txBody>
          <a:bodyPr>
            <a:normAutofit/>
          </a:bodyPr>
          <a:lstStyle/>
          <a:p>
            <a:pPr marL="0" indent="0" algn="just">
              <a:buNone/>
            </a:pPr>
            <a:r>
              <a:rPr lang="en-US" sz="2000" dirty="0">
                <a:latin typeface="Times New Roman" panose="02020603050405020304" pitchFamily="18" charset="0"/>
                <a:cs typeface="Times New Roman" panose="02020603050405020304" pitchFamily="18" charset="0"/>
              </a:rPr>
              <a:t>The system follows a pipeline-based architecture to ensure structured and efficient processing of user queries.</a:t>
            </a:r>
          </a:p>
          <a:p>
            <a:pPr marL="0" indent="0" algn="just">
              <a:buNone/>
            </a:pPr>
            <a:endParaRPr lang="en-US" sz="2000" dirty="0">
              <a:latin typeface="Times New Roman" panose="02020603050405020304" pitchFamily="18" charset="0"/>
              <a:cs typeface="Times New Roman" panose="02020603050405020304" pitchFamily="18" charset="0"/>
            </a:endParaRPr>
          </a:p>
          <a:p>
            <a:pPr marL="0" indent="0" algn="just">
              <a:buNone/>
            </a:pPr>
            <a:r>
              <a:rPr lang="en-US" sz="2000" dirty="0">
                <a:latin typeface="Times New Roman" panose="02020603050405020304" pitchFamily="18" charset="0"/>
                <a:cs typeface="Times New Roman" panose="02020603050405020304" pitchFamily="18" charset="0"/>
              </a:rPr>
              <a:t>When a user submits a query, relevant documents are retrieved from the dataset using retrieval techniques such as keyword search or vector similarity.</a:t>
            </a:r>
          </a:p>
          <a:p>
            <a:pPr marL="0" indent="0" algn="just">
              <a:buNone/>
            </a:pPr>
            <a:endParaRPr lang="en-US" sz="2000" dirty="0">
              <a:latin typeface="Times New Roman" panose="02020603050405020304" pitchFamily="18" charset="0"/>
              <a:cs typeface="Times New Roman" panose="02020603050405020304" pitchFamily="18" charset="0"/>
            </a:endParaRPr>
          </a:p>
          <a:p>
            <a:pPr marL="0" indent="0" algn="just">
              <a:buNone/>
            </a:pPr>
            <a:r>
              <a:rPr lang="en-US" sz="2000" dirty="0">
                <a:latin typeface="Times New Roman" panose="02020603050405020304" pitchFamily="18" charset="0"/>
                <a:cs typeface="Times New Roman" panose="02020603050405020304" pitchFamily="18" charset="0"/>
              </a:rPr>
              <a:t>The retrieved content is then passed to the language model as contextual input, forming a grounded knowledge base for response generation.</a:t>
            </a:r>
          </a:p>
          <a:p>
            <a:pPr marL="0" indent="0" algn="just">
              <a:buNone/>
            </a:pPr>
            <a:endParaRPr lang="en-US" sz="2000" dirty="0">
              <a:latin typeface="Times New Roman" panose="02020603050405020304" pitchFamily="18" charset="0"/>
              <a:cs typeface="Times New Roman" panose="02020603050405020304" pitchFamily="18" charset="0"/>
            </a:endParaRPr>
          </a:p>
          <a:p>
            <a:pPr marL="0" indent="0" algn="just">
              <a:buNone/>
            </a:pPr>
            <a:r>
              <a:rPr lang="en-US" sz="2000" dirty="0">
                <a:latin typeface="Times New Roman" panose="02020603050405020304" pitchFamily="18" charset="0"/>
                <a:cs typeface="Times New Roman" panose="02020603050405020304" pitchFamily="18" charset="0"/>
              </a:rPr>
              <a:t>Based on this context, the model generates a response that is both accurate and aligned with the retrieved information, reducing the chances of hallucination.</a:t>
            </a:r>
          </a:p>
        </p:txBody>
      </p:sp>
    </p:spTree>
    <p:extLst>
      <p:ext uri="{BB962C8B-B14F-4D97-AF65-F5344CB8AC3E}">
        <p14:creationId xmlns:p14="http://schemas.microsoft.com/office/powerpoint/2010/main" val="25671470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32BB2-CF95-920A-84C6-A0C6170E578B}"/>
              </a:ext>
            </a:extLst>
          </p:cNvPr>
          <p:cNvSpPr>
            <a:spLocks noGrp="1"/>
          </p:cNvSpPr>
          <p:nvPr>
            <p:ph type="title"/>
          </p:nvPr>
        </p:nvSpPr>
        <p:spPr/>
        <p:txBody>
          <a:bodyPr/>
          <a:lstStyle/>
          <a:p>
            <a:pPr algn="ctr"/>
            <a:r>
              <a:rPr lang="en-IN" sz="3200" dirty="0">
                <a:latin typeface="Times New Roman" panose="02020603050405020304" pitchFamily="18" charset="0"/>
                <a:cs typeface="Times New Roman" panose="02020603050405020304" pitchFamily="18" charset="0"/>
              </a:rPr>
              <a:t>Evaluation Metrics </a:t>
            </a:r>
          </a:p>
        </p:txBody>
      </p:sp>
      <p:sp>
        <p:nvSpPr>
          <p:cNvPr id="3" name="Text Placeholder 2">
            <a:extLst>
              <a:ext uri="{FF2B5EF4-FFF2-40B4-BE49-F238E27FC236}">
                <a16:creationId xmlns:a16="http://schemas.microsoft.com/office/drawing/2014/main" id="{FA9910C1-5BBE-4854-B681-0DAD7629B739}"/>
              </a:ext>
            </a:extLst>
          </p:cNvPr>
          <p:cNvSpPr>
            <a:spLocks noGrp="1"/>
          </p:cNvSpPr>
          <p:nvPr>
            <p:ph type="body"/>
          </p:nvPr>
        </p:nvSpPr>
        <p:spPr/>
        <p:txBody>
          <a:bodyPr>
            <a:normAutofit lnSpcReduction="10000"/>
          </a:bodyPr>
          <a:lstStyle/>
          <a:p>
            <a:pPr marL="0" indent="0" algn="just">
              <a:buNone/>
            </a:pPr>
            <a:r>
              <a:rPr lang="en-US" sz="2000" dirty="0">
                <a:latin typeface="Times New Roman" panose="02020603050405020304" pitchFamily="18" charset="0"/>
                <a:cs typeface="Times New Roman" panose="02020603050405020304" pitchFamily="18" charset="0"/>
              </a:rPr>
              <a:t>The system is evaluated using standard metrics such as factual accuracy, precision, recall, and response relevance to measure both retrieval performance and response quality.</a:t>
            </a:r>
          </a:p>
          <a:p>
            <a:pPr marL="0" indent="0" algn="just">
              <a:buNone/>
            </a:pPr>
            <a:endParaRPr lang="en-US" sz="2000" dirty="0">
              <a:latin typeface="Times New Roman" panose="02020603050405020304" pitchFamily="18" charset="0"/>
              <a:cs typeface="Times New Roman" panose="02020603050405020304" pitchFamily="18" charset="0"/>
            </a:endParaRPr>
          </a:p>
          <a:p>
            <a:pPr marL="0" indent="0" algn="just">
              <a:buNone/>
            </a:pPr>
            <a:r>
              <a:rPr lang="en-US" sz="2000" dirty="0">
                <a:latin typeface="Times New Roman" panose="02020603050405020304" pitchFamily="18" charset="0"/>
                <a:cs typeface="Times New Roman" panose="02020603050405020304" pitchFamily="18" charset="0"/>
              </a:rPr>
              <a:t>In addition, a new metric called </a:t>
            </a:r>
            <a:r>
              <a:rPr lang="en-US" sz="2000" b="1" dirty="0">
                <a:latin typeface="Times New Roman" panose="02020603050405020304" pitchFamily="18" charset="0"/>
                <a:cs typeface="Times New Roman" panose="02020603050405020304" pitchFamily="18" charset="0"/>
              </a:rPr>
              <a:t>Truthfulness Score</a:t>
            </a:r>
            <a:r>
              <a:rPr lang="en-US" sz="2000" dirty="0">
                <a:latin typeface="Times New Roman" panose="02020603050405020304" pitchFamily="18" charset="0"/>
                <a:cs typeface="Times New Roman" panose="02020603050405020304" pitchFamily="18" charset="0"/>
              </a:rPr>
              <a:t> is introduced as a key contribution of this research.</a:t>
            </a:r>
          </a:p>
          <a:p>
            <a:pPr marL="0" indent="0" algn="just">
              <a:buNone/>
            </a:pPr>
            <a:endParaRPr lang="en-US" sz="2000" dirty="0">
              <a:latin typeface="Times New Roman" panose="02020603050405020304" pitchFamily="18" charset="0"/>
              <a:cs typeface="Times New Roman" panose="02020603050405020304" pitchFamily="18" charset="0"/>
            </a:endParaRPr>
          </a:p>
          <a:p>
            <a:pPr marL="0" indent="0" algn="just">
              <a:buNone/>
            </a:pPr>
            <a:r>
              <a:rPr lang="en-US" sz="2000" dirty="0">
                <a:latin typeface="Times New Roman" panose="02020603050405020304" pitchFamily="18" charset="0"/>
                <a:cs typeface="Times New Roman" panose="02020603050405020304" pitchFamily="18" charset="0"/>
              </a:rPr>
              <a:t>This score measures the degree to which the generated response is supported by the retrieved context, helping to identify hallucinated or unsupported information.</a:t>
            </a:r>
          </a:p>
          <a:p>
            <a:pPr marL="0" indent="0" algn="just">
              <a:buNone/>
            </a:pPr>
            <a:endParaRPr lang="en-US" sz="2000" dirty="0">
              <a:latin typeface="Times New Roman" panose="02020603050405020304" pitchFamily="18" charset="0"/>
              <a:cs typeface="Times New Roman" panose="02020603050405020304" pitchFamily="18" charset="0"/>
            </a:endParaRPr>
          </a:p>
          <a:p>
            <a:pPr marL="0" indent="0" algn="just">
              <a:buNone/>
            </a:pPr>
            <a:r>
              <a:rPr lang="en-US" sz="2000" dirty="0">
                <a:latin typeface="Times New Roman" panose="02020603050405020304" pitchFamily="18" charset="0"/>
                <a:cs typeface="Times New Roman" panose="02020603050405020304" pitchFamily="18" charset="0"/>
              </a:rPr>
              <a:t>A higher Truthfulness Score indicates better alignment with source data, making it an effective measure for evaluating the reliability of the system.</a:t>
            </a:r>
          </a:p>
        </p:txBody>
      </p:sp>
    </p:spTree>
    <p:extLst>
      <p:ext uri="{BB962C8B-B14F-4D97-AF65-F5344CB8AC3E}">
        <p14:creationId xmlns:p14="http://schemas.microsoft.com/office/powerpoint/2010/main" val="37093530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A68DE1-7202-4C7F-0557-7D92B3625AD0}"/>
              </a:ext>
            </a:extLst>
          </p:cNvPr>
          <p:cNvSpPr>
            <a:spLocks noGrp="1"/>
          </p:cNvSpPr>
          <p:nvPr>
            <p:ph type="title"/>
          </p:nvPr>
        </p:nvSpPr>
        <p:spPr/>
        <p:txBody>
          <a:bodyPr/>
          <a:lstStyle/>
          <a:p>
            <a:pPr algn="ctr"/>
            <a:r>
              <a:rPr lang="en-IN" sz="3200" dirty="0">
                <a:latin typeface="Times New Roman" panose="02020603050405020304" pitchFamily="18" charset="0"/>
                <a:cs typeface="Times New Roman" panose="02020603050405020304" pitchFamily="18" charset="0"/>
              </a:rPr>
              <a:t>Results</a:t>
            </a:r>
          </a:p>
        </p:txBody>
      </p:sp>
      <p:sp>
        <p:nvSpPr>
          <p:cNvPr id="3" name="Text Placeholder 2">
            <a:extLst>
              <a:ext uri="{FF2B5EF4-FFF2-40B4-BE49-F238E27FC236}">
                <a16:creationId xmlns:a16="http://schemas.microsoft.com/office/drawing/2014/main" id="{204C28BE-2EFB-7563-DAE8-E71B06E73379}"/>
              </a:ext>
            </a:extLst>
          </p:cNvPr>
          <p:cNvSpPr>
            <a:spLocks noGrp="1"/>
          </p:cNvSpPr>
          <p:nvPr>
            <p:ph type="body"/>
          </p:nvPr>
        </p:nvSpPr>
        <p:spPr>
          <a:xfrm>
            <a:off x="457200" y="1604519"/>
            <a:ext cx="8229240" cy="4855915"/>
          </a:xfrm>
        </p:spPr>
        <p:txBody>
          <a:bodyPr>
            <a:noAutofit/>
          </a:bodyPr>
          <a:lstStyle/>
          <a:p>
            <a:pPr marL="0" indent="0" algn="just">
              <a:buNone/>
            </a:pPr>
            <a:r>
              <a:rPr lang="en-US" sz="2000" dirty="0">
                <a:latin typeface="Times New Roman" panose="02020603050405020304" pitchFamily="18" charset="0"/>
                <a:cs typeface="Times New Roman" panose="02020603050405020304" pitchFamily="18" charset="0"/>
              </a:rPr>
              <a:t>Experimental results indicate a clear improvement in system performance when using the RAG approach compared to baseline language models.</a:t>
            </a:r>
          </a:p>
          <a:p>
            <a:pPr marL="0" indent="0" algn="just">
              <a:buNone/>
            </a:pPr>
            <a:endParaRPr lang="en-US" sz="2000" dirty="0">
              <a:latin typeface="Times New Roman" panose="02020603050405020304" pitchFamily="18" charset="0"/>
              <a:cs typeface="Times New Roman" panose="02020603050405020304" pitchFamily="18" charset="0"/>
            </a:endParaRPr>
          </a:p>
          <a:p>
            <a:pPr marL="0" indent="0" algn="just">
              <a:buNone/>
            </a:pPr>
            <a:r>
              <a:rPr lang="en-US" sz="2000" dirty="0">
                <a:latin typeface="Times New Roman" panose="02020603050405020304" pitchFamily="18" charset="0"/>
                <a:cs typeface="Times New Roman" panose="02020603050405020304" pitchFamily="18" charset="0"/>
              </a:rPr>
              <a:t>The system shows a significant reduction in hallucinated responses, as the generated outputs are grounded in retrieved and relevant context.</a:t>
            </a:r>
          </a:p>
          <a:p>
            <a:pPr marL="0" indent="0" algn="just">
              <a:buNone/>
            </a:pPr>
            <a:endParaRPr lang="en-US" sz="2000" dirty="0">
              <a:latin typeface="Times New Roman" panose="02020603050405020304" pitchFamily="18" charset="0"/>
              <a:cs typeface="Times New Roman" panose="02020603050405020304" pitchFamily="18" charset="0"/>
            </a:endParaRPr>
          </a:p>
          <a:p>
            <a:pPr marL="0" indent="0" algn="just">
              <a:buNone/>
            </a:pPr>
            <a:r>
              <a:rPr lang="en-US" sz="2000" dirty="0">
                <a:latin typeface="Times New Roman" panose="02020603050405020304" pitchFamily="18" charset="0"/>
                <a:cs typeface="Times New Roman" panose="02020603050405020304" pitchFamily="18" charset="0"/>
              </a:rPr>
              <a:t>Hybrid retrieval outperforms individual retrieval methods by effectively balancing precision with semantic understanding.</a:t>
            </a:r>
          </a:p>
          <a:p>
            <a:pPr marL="0" indent="0" algn="just">
              <a:buNone/>
            </a:pPr>
            <a:endParaRPr lang="en-US" sz="2000" dirty="0">
              <a:latin typeface="Times New Roman" panose="02020603050405020304" pitchFamily="18" charset="0"/>
              <a:cs typeface="Times New Roman" panose="02020603050405020304" pitchFamily="18" charset="0"/>
            </a:endParaRPr>
          </a:p>
          <a:p>
            <a:pPr marL="0" indent="0" algn="just">
              <a:buNone/>
            </a:pPr>
            <a:r>
              <a:rPr lang="en-US" sz="2000" dirty="0">
                <a:latin typeface="Times New Roman" panose="02020603050405020304" pitchFamily="18" charset="0"/>
                <a:cs typeface="Times New Roman" panose="02020603050405020304" pitchFamily="18" charset="0"/>
              </a:rPr>
              <a:t>Semantic chunking further enhances response quality by preserving contextual integrity and improving the relevance of retrieved information.</a:t>
            </a:r>
          </a:p>
          <a:p>
            <a:pPr marL="0" indent="0" algn="just">
              <a:buNone/>
            </a:pPr>
            <a:endParaRPr lang="en-US" sz="2000" dirty="0">
              <a:latin typeface="Times New Roman" panose="02020603050405020304" pitchFamily="18" charset="0"/>
              <a:cs typeface="Times New Roman" panose="02020603050405020304" pitchFamily="18" charset="0"/>
            </a:endParaRPr>
          </a:p>
          <a:p>
            <a:pPr marL="0" indent="0" algn="just">
              <a:buNone/>
            </a:pPr>
            <a:r>
              <a:rPr lang="en-US" sz="2000" dirty="0">
                <a:latin typeface="Times New Roman" panose="02020603050405020304" pitchFamily="18" charset="0"/>
                <a:cs typeface="Times New Roman" panose="02020603050405020304" pitchFamily="18" charset="0"/>
              </a:rPr>
              <a:t>Overall, these improvements contribute to generating more accurate, reliable, and context-aware responses.</a:t>
            </a:r>
          </a:p>
        </p:txBody>
      </p:sp>
    </p:spTree>
    <p:extLst>
      <p:ext uri="{BB962C8B-B14F-4D97-AF65-F5344CB8AC3E}">
        <p14:creationId xmlns:p14="http://schemas.microsoft.com/office/powerpoint/2010/main" val="37298269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33AF3D-CFA6-B164-CC25-F4FA81A228D4}"/>
              </a:ext>
            </a:extLst>
          </p:cNvPr>
          <p:cNvSpPr>
            <a:spLocks noGrp="1"/>
          </p:cNvSpPr>
          <p:nvPr>
            <p:ph type="title"/>
          </p:nvPr>
        </p:nvSpPr>
        <p:spPr/>
        <p:txBody>
          <a:bodyPr/>
          <a:lstStyle/>
          <a:p>
            <a:pPr algn="ctr"/>
            <a:r>
              <a:rPr lang="en-IN" sz="3200" dirty="0">
                <a:latin typeface="Times New Roman" panose="02020603050405020304" pitchFamily="18" charset="0"/>
                <a:cs typeface="Times New Roman" panose="02020603050405020304" pitchFamily="18" charset="0"/>
              </a:rPr>
              <a:t>Conclusion</a:t>
            </a:r>
          </a:p>
        </p:txBody>
      </p:sp>
      <p:sp>
        <p:nvSpPr>
          <p:cNvPr id="3" name="Text Placeholder 2">
            <a:extLst>
              <a:ext uri="{FF2B5EF4-FFF2-40B4-BE49-F238E27FC236}">
                <a16:creationId xmlns:a16="http://schemas.microsoft.com/office/drawing/2014/main" id="{5D5033EF-BA66-15BA-32FF-8C7C4BF0FEF1}"/>
              </a:ext>
            </a:extLst>
          </p:cNvPr>
          <p:cNvSpPr>
            <a:spLocks noGrp="1"/>
          </p:cNvSpPr>
          <p:nvPr>
            <p:ph type="body"/>
          </p:nvPr>
        </p:nvSpPr>
        <p:spPr/>
        <p:txBody>
          <a:bodyPr>
            <a:normAutofit/>
          </a:bodyPr>
          <a:lstStyle/>
          <a:p>
            <a:pPr marL="0" indent="0" algn="just">
              <a:buNone/>
            </a:pPr>
            <a:r>
              <a:rPr lang="en-US" sz="2000" dirty="0">
                <a:latin typeface="Times New Roman" panose="02020603050405020304" pitchFamily="18" charset="0"/>
                <a:cs typeface="Times New Roman" panose="02020603050405020304" pitchFamily="18" charset="0"/>
              </a:rPr>
              <a:t>The study demonstrates that Retrieval-Augmented Generation is an effective approach for reducing hallucinations in large language models.</a:t>
            </a:r>
          </a:p>
          <a:p>
            <a:pPr marL="0" indent="0" algn="just">
              <a:buNone/>
            </a:pPr>
            <a:r>
              <a:rPr lang="en-US" sz="2000" dirty="0">
                <a:latin typeface="Times New Roman" panose="02020603050405020304" pitchFamily="18" charset="0"/>
                <a:cs typeface="Times New Roman" panose="02020603050405020304" pitchFamily="18" charset="0"/>
              </a:rPr>
              <a:t>By integrating retrieval techniques, semantic chunking, and evaluation metrics, the system produces responses that are more accurate, context-aware, and reliable.</a:t>
            </a:r>
          </a:p>
          <a:p>
            <a:pPr marL="0" indent="0" algn="just">
              <a:buNone/>
            </a:pPr>
            <a:r>
              <a:rPr lang="en-US" sz="2000" dirty="0">
                <a:latin typeface="Times New Roman" panose="02020603050405020304" pitchFamily="18" charset="0"/>
                <a:cs typeface="Times New Roman" panose="02020603050405020304" pitchFamily="18" charset="0"/>
              </a:rPr>
              <a:t>The use of external knowledge grounding significantly improves factual correctness compared to traditional LLMs.</a:t>
            </a:r>
          </a:p>
          <a:p>
            <a:pPr marL="0" indent="0" algn="just">
              <a:buNone/>
            </a:pPr>
            <a:r>
              <a:rPr lang="en-US" sz="2000" dirty="0">
                <a:latin typeface="Times New Roman" panose="02020603050405020304" pitchFamily="18" charset="0"/>
                <a:cs typeface="Times New Roman" panose="02020603050405020304" pitchFamily="18" charset="0"/>
              </a:rPr>
              <a:t>This approach can be applied to real-world systems such as academic assistants, helpdesk platforms, and intelligent information systems where high accuracy and trust are essential.</a:t>
            </a:r>
          </a:p>
        </p:txBody>
      </p:sp>
    </p:spTree>
    <p:extLst>
      <p:ext uri="{BB962C8B-B14F-4D97-AF65-F5344CB8AC3E}">
        <p14:creationId xmlns:p14="http://schemas.microsoft.com/office/powerpoint/2010/main" val="3038430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1297577" y="2821578"/>
            <a:ext cx="6705599" cy="1410788"/>
          </a:xfrm>
          <a:prstGeom prst="rect">
            <a:avLst/>
          </a:prstGeom>
          <a:noFill/>
          <a:ln w="9360">
            <a:noFill/>
          </a:ln>
        </p:spPr>
        <p:txBody>
          <a:bodyPr anchor="ctr">
            <a:noAutofit/>
          </a:bodyPr>
          <a:lstStyle/>
          <a:p>
            <a:pPr algn="ctr">
              <a:lnSpc>
                <a:spcPct val="100000"/>
              </a:lnSpc>
            </a:pPr>
            <a:r>
              <a:rPr lang="en" sz="5400" dirty="0">
                <a:latin typeface="Times New Roman" panose="02020603050405020304" pitchFamily="18" charset="0"/>
                <a:cs typeface="Times New Roman" panose="02020603050405020304" pitchFamily="18" charset="0"/>
              </a:rPr>
              <a:t>Thank You</a:t>
            </a:r>
            <a:endParaRPr lang="en-US" sz="54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11</a:t>
            </a:fld>
            <a:endParaRPr lang="en-GB" sz="1200" b="0" strike="noStrike" spc="-1">
              <a:latin typeface="Times New Roman"/>
            </a:endParaRPr>
          </a:p>
        </p:txBody>
      </p:sp>
    </p:spTree>
    <p:extLst>
      <p:ext uri="{BB962C8B-B14F-4D97-AF65-F5344CB8AC3E}">
        <p14:creationId xmlns:p14="http://schemas.microsoft.com/office/powerpoint/2010/main" val="28344798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96F1BF43DDE004485E7A868D137D60A" ma:contentTypeVersion="0" ma:contentTypeDescription="Create a new document." ma:contentTypeScope="" ma:versionID="47fff7f98a9c49c088ba096c14cf4458">
  <xsd:schema xmlns:xsd="http://www.w3.org/2001/XMLSchema" xmlns:xs="http://www.w3.org/2001/XMLSchema" xmlns:p="http://schemas.microsoft.com/office/2006/metadata/properties" targetNamespace="http://schemas.microsoft.com/office/2006/metadata/properties" ma:root="true" ma:fieldsID="c05e9f2c4932a6a674126b9dde7716e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A62A602-78C1-468C-BB25-57CD481DB741}">
  <ds:schemaRefs>
    <ds:schemaRef ds:uri="http://purl.org/dc/terms/"/>
    <ds:schemaRef ds:uri="http://www.w3.org/XML/1998/namespace"/>
    <ds:schemaRef ds:uri="http://purl.org/dc/dcmitype/"/>
    <ds:schemaRef ds:uri="http://schemas.microsoft.com/office/2006/documentManagement/types"/>
    <ds:schemaRef ds:uri="http://schemas.microsoft.com/office/2006/metadata/properties"/>
    <ds:schemaRef ds:uri="http://purl.org/dc/elements/1.1/"/>
    <ds:schemaRef ds:uri="http://schemas.microsoft.com/office/infopath/2007/PartnerControls"/>
    <ds:schemaRef ds:uri="http://schemas.openxmlformats.org/package/2006/metadata/core-properties"/>
  </ds:schemaRefs>
</ds:datastoreItem>
</file>

<file path=customXml/itemProps2.xml><?xml version="1.0" encoding="utf-8"?>
<ds:datastoreItem xmlns:ds="http://schemas.openxmlformats.org/officeDocument/2006/customXml" ds:itemID="{737ED6F0-5E4C-4CD0-9B68-9C53F925A6F7}">
  <ds:schemaRefs>
    <ds:schemaRef ds:uri="http://schemas.microsoft.com/sharepoint/v3/contenttype/forms"/>
  </ds:schemaRefs>
</ds:datastoreItem>
</file>

<file path=customXml/itemProps3.xml><?xml version="1.0" encoding="utf-8"?>
<ds:datastoreItem xmlns:ds="http://schemas.openxmlformats.org/officeDocument/2006/customXml" ds:itemID="{491DF113-39A2-46D5-BFDA-E63300A9ECA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
  <TotalTime>34751</TotalTime>
  <Words>998</Words>
  <Application>Microsoft Office PowerPoint</Application>
  <PresentationFormat>On-screen Show (4:3)</PresentationFormat>
  <Paragraphs>91</Paragraphs>
  <Slides>11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Times New Roman</vt:lpstr>
      <vt:lpstr>Office Theme</vt:lpstr>
      <vt:lpstr>PowerPoint Presentation</vt:lpstr>
      <vt:lpstr>PowerPoint Presentation</vt:lpstr>
      <vt:lpstr>Problem Statement</vt:lpstr>
      <vt:lpstr>Proposed Solution – RAG</vt:lpstr>
      <vt:lpstr>Methodology Overview</vt:lpstr>
      <vt:lpstr>Chunking and Retrieval Techniques</vt:lpstr>
      <vt:lpstr>RAG Architecture</vt:lpstr>
      <vt:lpstr>Evaluation Metrics </vt:lpstr>
      <vt:lpstr>Results</vt:lpstr>
      <vt:lpstr>Conclusion</vt:lpstr>
      <vt:lpstr>PowerPoint Presentation</vt:lpstr>
    </vt:vector>
  </TitlesOfParts>
  <Company>CCC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ABC</dc:creator>
  <cp:lastModifiedBy>Heena Pawriya</cp:lastModifiedBy>
  <cp:revision>2299</cp:revision>
  <dcterms:created xsi:type="dcterms:W3CDTF">2010-04-09T07:36:15Z</dcterms:created>
  <dcterms:modified xsi:type="dcterms:W3CDTF">2026-04-29T06:19:45Z</dcterms:modified>
  <dc:language>en-GB</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y fmtid="{D5CDD505-2E9C-101B-9397-08002B2CF9AE}" pid="13" name="ContentTypeId">
    <vt:lpwstr>0x010100096F1BF43DDE004485E7A868D137D60A</vt:lpwstr>
  </property>
</Properties>
</file>